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9c98905884c84" /><Relationship Type="http://schemas.openxmlformats.org/officeDocument/2006/relationships/extended-properties" Target="/docProps/app.xml" Id="R764ed6cde836486e" /><Relationship Type="http://schemas.openxmlformats.org/officeDocument/2006/relationships/officeDocument" Target="/ppt/presentation.xml" Id="R8e37fbcbf2c6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de46ddced34b6d"/>
  </p:sldMasterIdLst>
  <p:notesMasterIdLst>
    <p:notesMasterId xmlns:r="http://schemas.openxmlformats.org/officeDocument/2006/relationships" r:id="Rf1028ead4da54c5f"/>
  </p:notesMasterIdLst>
  <p:sldIdLst>
    <p:sldId xmlns:r="http://schemas.openxmlformats.org/officeDocument/2006/relationships" id="256" r:id="R4e3880e62f89416c"/>
    <p:sldId xmlns:r="http://schemas.openxmlformats.org/officeDocument/2006/relationships" id="257" r:id="R0642d51e2c3a4518"/>
    <p:sldId xmlns:r="http://schemas.openxmlformats.org/officeDocument/2006/relationships" id="258" r:id="R21d7f6104fe74131"/>
    <p:sldId xmlns:r="http://schemas.openxmlformats.org/officeDocument/2006/relationships" id="259" r:id="R05c7fdffffd74d36"/>
    <p:sldId xmlns:r="http://schemas.openxmlformats.org/officeDocument/2006/relationships" id="260" r:id="R5f5674900d484cde"/>
    <p:sldId xmlns:r="http://schemas.openxmlformats.org/officeDocument/2006/relationships" id="261" r:id="Ra4112bfddd1240a5"/>
    <p:sldId xmlns:r="http://schemas.openxmlformats.org/officeDocument/2006/relationships" id="262" r:id="Rd55547dde694441e"/>
    <p:sldId xmlns:r="http://schemas.openxmlformats.org/officeDocument/2006/relationships" id="263" r:id="Rf6804f4d6cc14f33"/>
    <p:sldId xmlns:r="http://schemas.openxmlformats.org/officeDocument/2006/relationships" id="264" r:id="Rfe4c41154afa4506"/>
    <p:sldId xmlns:r="http://schemas.openxmlformats.org/officeDocument/2006/relationships" id="265" r:id="R212437d012d449f0"/>
    <p:sldId xmlns:r="http://schemas.openxmlformats.org/officeDocument/2006/relationships" id="266" r:id="Ra666bfdfd59543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e46ddced34b6d" /><Relationship Type="http://schemas.openxmlformats.org/officeDocument/2006/relationships/theme" Target="/ppt/theme/theme1.xml" Id="Re0d389a3011d4f60" /><Relationship Type="http://schemas.openxmlformats.org/officeDocument/2006/relationships/notesMaster" Target="/ppt/notesMasters/notesMaster1.xml" Id="Rf1028ead4da54c5f" /><Relationship Type="http://schemas.openxmlformats.org/officeDocument/2006/relationships/presProps" Target="/ppt/presProps.xml" Id="R66efc4308cea44a1" /><Relationship Type="http://schemas.openxmlformats.org/officeDocument/2006/relationships/viewProps" Target="/ppt/viewProps.xml" Id="R327549e7908a40a4" /><Relationship Type="http://schemas.openxmlformats.org/officeDocument/2006/relationships/tableStyles" Target="/ppt/tableStyles.xml" Id="R4ac828e74bb541dd" /><Relationship Type="http://schemas.openxmlformats.org/officeDocument/2006/relationships/slide" Target="/ppt/slides/slide1.xml" Id="R4e3880e62f89416c" /><Relationship Type="http://schemas.openxmlformats.org/officeDocument/2006/relationships/slide" Target="/ppt/slides/slide2.xml" Id="R0642d51e2c3a4518" /><Relationship Type="http://schemas.openxmlformats.org/officeDocument/2006/relationships/slide" Target="/ppt/slides/slide3.xml" Id="R21d7f6104fe74131" /><Relationship Type="http://schemas.openxmlformats.org/officeDocument/2006/relationships/slide" Target="/ppt/slides/slide4.xml" Id="R05c7fdffffd74d36" /><Relationship Type="http://schemas.openxmlformats.org/officeDocument/2006/relationships/slide" Target="/ppt/slides/slide5.xml" Id="R5f5674900d484cde" /><Relationship Type="http://schemas.openxmlformats.org/officeDocument/2006/relationships/slide" Target="/ppt/slides/slide6.xml" Id="Ra4112bfddd1240a5" /><Relationship Type="http://schemas.openxmlformats.org/officeDocument/2006/relationships/slide" Target="/ppt/slides/slide7.xml" Id="Rd55547dde694441e" /><Relationship Type="http://schemas.openxmlformats.org/officeDocument/2006/relationships/slide" Target="/ppt/slides/slide8.xml" Id="Rf6804f4d6cc14f33" /><Relationship Type="http://schemas.openxmlformats.org/officeDocument/2006/relationships/slide" Target="/ppt/slides/slide9.xml" Id="Rfe4c41154afa4506" /><Relationship Type="http://schemas.openxmlformats.org/officeDocument/2006/relationships/slide" Target="/ppt/slides/slide10.xml" Id="R212437d012d449f0" /><Relationship Type="http://schemas.openxmlformats.org/officeDocument/2006/relationships/slide" Target="/ppt/slides/slide11.xml" Id="Ra666bfdfd59543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5c746e5def40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88597f4d54605" /><Relationship Type="http://schemas.openxmlformats.org/officeDocument/2006/relationships/notesMaster" Target="/ppt/notesMasters/notesMaster1.xml" Id="R75a14fc55415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20e86d17fa4493" /><Relationship Type="http://schemas.openxmlformats.org/officeDocument/2006/relationships/notesMaster" Target="/ppt/notesMasters/notesMaster1.xml" Id="R92d73eb60fe6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ab6d5121d466a" /><Relationship Type="http://schemas.openxmlformats.org/officeDocument/2006/relationships/notesMaster" Target="/ppt/notesMasters/notesMaster1.xml" Id="Ra42c8119ebaa4b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fc86bb93b4e85" /><Relationship Type="http://schemas.openxmlformats.org/officeDocument/2006/relationships/notesMaster" Target="/ppt/notesMasters/notesMaster1.xml" Id="Re49cf6424b6c4f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8470730a1b42f2" /><Relationship Type="http://schemas.openxmlformats.org/officeDocument/2006/relationships/notesMaster" Target="/ppt/notesMasters/notesMaster1.xml" Id="Rd33c8f4b00f8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49dfa02ba9426e" /><Relationship Type="http://schemas.openxmlformats.org/officeDocument/2006/relationships/notesMaster" Target="/ppt/notesMasters/notesMaster1.xml" Id="Ra6b44fc779ce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9001a3ca2d4ac5" /><Relationship Type="http://schemas.openxmlformats.org/officeDocument/2006/relationships/notesMaster" Target="/ppt/notesMasters/notesMaster1.xml" Id="R704f5da0ffb843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475f74fb414ea5" /><Relationship Type="http://schemas.openxmlformats.org/officeDocument/2006/relationships/notesMaster" Target="/ppt/notesMasters/notesMaster1.xml" Id="Rad4507d7b79642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2780e05be4739" /><Relationship Type="http://schemas.openxmlformats.org/officeDocument/2006/relationships/notesMaster" Target="/ppt/notesMasters/notesMaster1.xml" Id="Rd917b4b7c3d442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3476a69a54565" /><Relationship Type="http://schemas.openxmlformats.org/officeDocument/2006/relationships/notesMaster" Target="/ppt/notesMasters/notesMaster1.xml" Id="Rf17d38092ec84c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8fe2abc4f14c9f" /><Relationship Type="http://schemas.openxmlformats.org/officeDocument/2006/relationships/notesMaster" Target="/ppt/notesMasters/notesMaster1.xml" Id="Rd0e3a35ebf6c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9a94d338145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56989bb4d08425c" /><Relationship Type="http://schemas.openxmlformats.org/officeDocument/2006/relationships/slideLayout" Target="/ppt/slideLayouts/slideLayout2.xml" Id="R9c036c4067ce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36c4067ce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4a51545599469e" /><Relationship Type="http://schemas.openxmlformats.org/officeDocument/2006/relationships/notesSlide" Target="/ppt/notesSlides/notesSlide1.xml" Id="R52cc8faf6f804a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f61971ed3446e" /><Relationship Type="http://schemas.openxmlformats.org/officeDocument/2006/relationships/notesSlide" Target="/ppt/notesSlides/notesSlide2.xml" Id="R1e322ddf8ad845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f6853a7994745" /><Relationship Type="http://schemas.openxmlformats.org/officeDocument/2006/relationships/notesSlide" Target="/ppt/notesSlides/notesSlide3.xml" Id="R4fe47c3a972443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fd9f82ce94472" /><Relationship Type="http://schemas.openxmlformats.org/officeDocument/2006/relationships/notesSlide" Target="/ppt/notesSlides/notesSlide4.xml" Id="Ra8b78f9b574049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2d3c9ce5e1414e" /><Relationship Type="http://schemas.openxmlformats.org/officeDocument/2006/relationships/notesSlide" Target="/ppt/notesSlides/notesSlide5.xml" Id="R2f83d8da3b3d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568c0b22a40a5" /><Relationship Type="http://schemas.openxmlformats.org/officeDocument/2006/relationships/notesSlide" Target="/ppt/notesSlides/notesSlide6.xml" Id="Rbcf65f4611ad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4270e9db44de3" /><Relationship Type="http://schemas.openxmlformats.org/officeDocument/2006/relationships/notesSlide" Target="/ppt/notesSlides/notesSlide7.xml" Id="R886ab4d539b440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ca437ba4564a93" /><Relationship Type="http://schemas.openxmlformats.org/officeDocument/2006/relationships/notesSlide" Target="/ppt/notesSlides/notesSlide8.xml" Id="R0fbf05d51ebb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1e64ccf264c99" /><Relationship Type="http://schemas.openxmlformats.org/officeDocument/2006/relationships/notesSlide" Target="/ppt/notesSlides/notesSlide9.xml" Id="Ra4bf6171e91b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b426b6b2342f9" /><Relationship Type="http://schemas.openxmlformats.org/officeDocument/2006/relationships/notesSlide" Target="/ppt/notesSlides/notesSlide10.xml" Id="R796f54547db74d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d686ba1dd41f9" /><Relationship Type="http://schemas.openxmlformats.org/officeDocument/2006/relationships/notesSlide" Target="/ppt/notesSlides/notesSlide11.xml" Id="R536ec01f9f5348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226E0-8D67-4982-A2CD-180911D4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6418C-2198-4A2B-BD04-80B89573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CREDENCE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44AB8-5BF4-4F5C-B282-A1515A8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AI credit, settled on Solana.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29A9F-2775-44D8-8707-BBBE398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590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Borrowers prove creditworthiness without exposing wallet history. Lenders fund a transparent USDC pool. Repayments stream back under on-chain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F4C25-641C-48A3-82C2-70BFED05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1295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0">
            <a:solidFill>
              <a:srgbClr val="DDF5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3DEED-9325-4699-A275-7E6D034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QVAC local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A001D-1D03-4B2A-96A4-54DABE2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103A9-64F1-4A32-BC1B-F932EB8D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43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4E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4E63"/>
                </a:solidFill>
                <a:latin typeface="Aptos"/>
                <a:ea typeface="Aptos"/>
                <a:cs typeface="Aptos"/>
              </a:rPr>
              <a:t>ZK tier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A2AB4-BD75-4178-82FB-A25DAE5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76700"/>
            <a:ext cx="1390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0">
            <a:solidFill>
              <a:srgbClr val="DDF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E6EC8-CF82-43F2-88AD-7CEEE4E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Privy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DACA0-214E-4F3F-BE0A-D66B5EAE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7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FFF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FFFA2-DD92-4406-A052-95E8CB18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43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4D0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A4D00"/>
                </a:solidFill>
                <a:latin typeface="Aptos"/>
                <a:ea typeface="Aptos"/>
                <a:cs typeface="Aptos"/>
              </a:rPr>
              <a:t>Kamino yield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72FE6-EF92-422C-AD10-F79F56D8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95350"/>
            <a:ext cx="3619500" cy="4476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253241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BCC05-FF17-41FE-BE34-5E836656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57300"/>
            <a:ext cx="2619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devnet 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C137A-6F7B-4AA8-B45E-DFBDE04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2809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E3E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E3E0"/>
                </a:solidFill>
                <a:latin typeface="Aptos"/>
                <a:ea typeface="Aptos"/>
                <a:cs typeface="Aptos"/>
              </a:rPr>
              <a:t>The app is wired to real Solana devnet accounts for loans, collateral, streams, pool liquidity, and Kamino allocation.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D3BE7-8091-49F0-BAD6-4E71F3DD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36395-E760-41F7-9449-BEE9A055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F7D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BFD4C-0D2E-426D-8162-BE96B58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Devnet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EF987-987C-4B36-BF38-C010935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Solana settlement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0713F-CF5A-4A4D-8033-2468698A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66D3-170E-403E-A783-E3D86290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F7D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56410-11D1-467F-8C6C-D7AE32B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On-chain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36643-AD98-4D4F-8968-B3C2538A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Proofs, loans, streams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EEE8F-15E5-4C09-AED5-4ED4BB7B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82572-0F66-4D26-A5B6-4F22904C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05928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33760-A764-413D-918C-F1908C2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D2F8F-7796-49F1-B85F-DEB4A19B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0FA5C-1729-4F04-82B6-F4432718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DeFi credit forces borrowers to choose between capital inefficiency and privacy loss.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122B-D66B-42D7-8DF8-EFB78B9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C9D39-A672-4887-881A-AD82511F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Overcollateralized lending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B6C54-92A3-4264-A192-E377A584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 $100 only after locking more than $100. Safe, but capital inefficient.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C279B-F7FF-4CE8-9B1F-B2544FA9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29A5B-B9F4-422E-80F5-9A0F1E6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474DD-8BB8-40E5-8DBC-E29A53D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Undercollateralized lending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D4050-2D78-4E5B-B385-4D075315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Usually depends on KYC, whitelists, or centralized underwriting.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3C42B-42A1-4BAF-85DE-4D0D207E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E798C-AE9B-4433-A161-1D4963C2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F3ECD-B1BE-4F4F-87D2-A6DB6DB6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Cloud AI risk engines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DE84B-BDEA-4C2B-9D04-56105753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Portfolio and wallet history leave the user’s machine.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D477A-47F9-4EE9-B7D2-181D06DD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005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B38EA-F62B-4028-AD49-3CDD830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Credence creates a third path: private, proof-gated credit with enforceable on-chain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C620D-1903-461B-98B2-DA4B9F79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41D48-80F1-4052-B415-8DBB5365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20500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5C344-019E-4243-8513-F6EA066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BF7CD-B036-4B14-AC50-F6DBBE3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F40AA-5BA0-4046-8EB5-6145BE0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Credence separates private scoring from public settlement.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27A9F-CC93-4BF9-925A-F962DD3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ACD1C-B756-4CC2-98AD-4957306F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device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0A61F-DDC7-427E-851C-D7A67DAC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credit agent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wallet signals stay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CE09B-9083-49CA-A729-B50AFE4E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52C44-B97D-49DC-9854-114C76D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4897-B431-48A6-B849-624CD16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18754-6FB9-4080-A8A0-00CE010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Proof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CF742-0E91-41F5-81E1-4935501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ZK tier proof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wallet + model commitments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AE8E9-FA63-49D6-96A3-41E916F7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91797-CF73-4032-AD7A-EC8ADCB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F4DD9-E382-4330-81DE-D6DCFD1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9080E-D0D4-4A2F-ABB8-979F909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Solana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2AC84-71CF-457A-ADB0-ECE4614D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Credit proof PDA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loan + collateral escrow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repayment stream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EA092-B9F4-4F87-93A8-E6A9FF8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7B512-C31E-44F6-88DA-D2FC3AE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62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A10E7-649C-4940-AF4B-4750D280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62200" cy="24193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6573C-5359-49B8-B1BD-0823A3F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Lender pool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545BF-42F6-41B4-8512-BFA4715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52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USDC vault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Kamino allocation</a:t>
            </a:r>
          </a:p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claimable repayments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F334B-E835-4C26-B4CA-62B31F8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The chain receives enforceable state, not raw borrower history. Lenders can inspect pool and repayment accounts without seeing private underwriting inputs.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7EB28-8497-4F8D-B1EB-E0F8E6C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877DF-94F4-47D4-BFDE-CFE0C092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25660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69039-4A2E-4447-8CCE-05851E5C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CC369-F86B-4530-BC78-E083DCEE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QVAC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419D3-1B50-4DA9-B2D6-61DD408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QVAC is the load-bearing privacy layer, not a decorative AI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4F31E-8FB1-461A-BBFC-C2211CB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0C119-78E4-4BB7-B6A2-9C139995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Credit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10111-5A67-40D3-9CA6-23C99E7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Runs local inference over wallet and DeFi behavior. Outputs a tier, max loan, collateral requirement, and model commitment.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842C5-EA0F-43B3-8ED2-584CBE30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User data stays local; the protocol only receives the proof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0FB73-42A5-4C2D-AAA3-F3BC4D5A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857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12795-9681-4034-9FA9-1E53574F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Yield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3F057-C1EF-4A30-A65D-EB2FB4E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3638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Evaluates pool utilization and whether idle USDC should stay liquid or move into the configured Kamino vault.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F8FDE-EC72-476A-B77E-E30F3FC5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Yield decisions can be automated while remaining bounded by policy.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9FA2E-A43C-4677-9323-1F033A9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9C350-8923-49E0-8D6B-DFC606F5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74507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9DC0D7-E936-40FC-81EF-59858D29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A0D9D-20A5-4AF0-9C5D-25FADFE8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BORROWER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A979C-E10A-4569-A67E-5B66114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A borrower can take credit without publishing the data used to score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7647A-E8B5-467A-8B02-E16F650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AEF9D-B659-4430-96C5-6046D09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6996C-56B6-4A3F-88F1-E215ABA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Connect wallet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9AB0B-730C-4374-9A01-2AC4B0C4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B3D2F-D5D3-4194-A6F3-8CA747BA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B5699-9EB4-4105-82EF-25AA36AC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68B75-7504-41F5-84F9-4B3BBC8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5319C-DC59-4228-90A0-E5731CA0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Run QVAC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6CE3F-5E70-4006-9374-52754136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7BEB9-EA42-40C8-A9F8-40A4898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2CC4D-25E5-48D3-83F5-E708D93D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D615-FA2A-465E-AE7B-E98A0C94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35E98-B847-4A7F-9E9F-C6D35368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Register ZK 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B7A68-FA0D-4D1C-92CB-CD7C3E60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A3F7E-A34E-4DF1-B035-4D1BBCC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476FF-B80A-42BA-B1C1-9CC4E015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5D8E0-D368-49A3-9452-44515D1D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ABC8C-E4E5-4A81-9639-6168E37A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Request loan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3043A-C3FB-4DCE-A538-3604422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65059-B3B5-4BD7-9E4A-7A6E80D4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EA362-F7E2-4630-8DBF-C921FC4D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265A9-BFC6-407D-A86C-93E6B1DD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F05DC-D38B-4CAA-B878-72E9964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Lock collateral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A1A60-2472-49A4-B352-487E1A58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09875"/>
            <a:ext cx="847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E8D8B-9B6E-40C8-B23A-692C10D3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FE8E7"/>
          </a:solidFill>
          <a:ln xmlns:a="http://schemas.openxmlformats.org/drawingml/2006/main" w="0">
            <a:solidFill>
              <a:srgbClr val="DFE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71D5F-5708-4C03-90A6-8A893384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A4DC10-F3D1-426E-836F-DE9D7C8C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176D9-AECC-4FE2-8833-18950146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Fund stream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E509B-D84F-4DB8-88E6-9691A09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9982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DD1C7-4B41-4F24-8467-906EB88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096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Repayment is not a hidden promise: funds sit in a program-derived stream vault and become claimable by the pool over time.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38000-287C-41E1-8F15-9C5D4474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E3A5A6-DCCF-409E-A54D-0AB471D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77830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ADFC4-CFEB-4DEA-B143-DDBA625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0AB10-01B6-4357-83AE-763441B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04F0C-9AEC-45F1-9910-7163DFBB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system can be trusted because the risky parts are bounded twice.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EE682-3B7F-48A7-A87A-483FC06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17128-196F-48A3-9BC4-50C8679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907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Private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D1100-AD12-4DB6-8CD2-D43D3DA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keeps wallet analysis local; ZK proof exposes only the tier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914DE-F248-4D0D-AF38-D8409450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67203-373C-4B18-985C-C0AEBE03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622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Wallet 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78713-B56C-4340-8EF7-77956469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Privy policy can constrain delegated repayment signatures to the AXIOM program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BCFD3-726C-4507-9001-CDCC133F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40550-62D4-4C37-B326-C8D9FECD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On-chain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9360E-AE67-412A-94B1-1DD53EB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The Solana program validates borrower, recipient, amount, loan state, and stream vault.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EA587-17AA-4960-896E-1CBA45D3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0382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94373-E9C4-4C1B-B863-8CED054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D51DF-B0AD-46D6-A056-DCDF088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676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Collateral escrow supports warning, grace period, and liquidation if repayment fails.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E5405-9134-4333-86C3-EFDFC6F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5DF9D-8CC9-46AF-8080-CD851FA4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2121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49D44-176B-45F7-A81F-7990AF0A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EAB87-302B-4D44-A179-46CEEBB2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DEVNET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F4246-155C-4F68-9073-724815C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demo is wired to real Solana accounts, not a static mock.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6E976-3501-46F1-BEB4-3B644996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91A32-AF52-465F-B5E9-87054C5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19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AXIOM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03311-2B8D-407C-BD92-58F076F8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6Xrd8Ymz9vxecWjifKern6LAzXQ2XKcS4D1zsJ8ENLpK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594D5-5A9D-459B-A6CD-101E11BF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E3133-6B97-40C3-A48F-EF553A2E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Lending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51E1C-5FC1-419D-BD21-5579506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9vWqdDc68HmMijbbDviYmHYPo96Ru2FSL9CYbg22Guiu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90AC-45B3-4500-857A-2FFA9EC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4B8F2-6CB7-43CA-B07E-85EF4ED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USDC vault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C0C1F-DAEB-4D7A-8481-94B8B6F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AaywYs28UTX946bnaXya79GP9X6tj2ScVeb9Z1UHKQa6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F9024-033F-4BA0-A50D-71C5C8F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03632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36BF5-45CA-4572-BB1C-E6C9C4C8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Kamino vault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5003B-5875-49F9-9F38-A53A191D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4202B"/>
                </a:solidFill>
                <a:latin typeface="Aptos Mono"/>
                <a:ea typeface="Aptos Mono"/>
                <a:cs typeface="Aptos Mono"/>
              </a:rPr>
              <a:t>7uib8xGAwkaPz4ZGCA6t8sSEid5Yp9ty13PHUweTypx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EE376-F3FA-43DE-A3F2-1C988A34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Shown live in the app: proof PDA, loan PDA, collateral escrow, repayment stream vault, pool liquidity, and Kamino allocation.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0B288-26AD-4A8B-B7DC-7D20F752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3C6DA-770E-4682-8E1F-5798BC4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00629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B4FF2F-177D-457F-B47D-9908CF6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ED016-071E-4987-911B-0215500E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BUSINESS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B7CCB-8AA2-4015-ADAF-E73FED5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Lenders get two yield sources while borrowers get better capital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62422-654F-4BE6-BC95-57BD53BB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EA27E-6483-4D2C-8A24-1369686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Borrower interest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BD6BE-7C5E-483B-9ADB-748F56CC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Loan APR accrues into repayment streams and is claimed by the pool over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9C609-9181-4C69-B89E-D00EE55B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285E1-526A-4268-ACBA-56E78394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Idle yield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CFB17-1594-4F46-A236-99BD115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QVAC yield agent can route unused USDC toward Kamino while preserving liquidity constraints.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34E77-1346-402F-8EBA-2EE13C4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88C29-3316-4481-BDF1-B0DE60C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Risk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F4564-E024-4D57-B1E5-6DA2D857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Collateral escrow gives lenders a defined recovery path if repayment breaks.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CBD3D-4814-4AC3-8E4F-79BA19EA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 protocol’s value is not higher leverage alone; it is private underwriting with enforceable repayment and recovery.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1C711-A04A-4FC0-9D8C-47A5CD5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0C5E1-BB4E-45CD-BA70-84A691C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12595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1A754-B0BA-4512-9494-A6FE61A3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1CE4-6371-40D9-BBCC-6230B63B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B19B7-EA0D-47A0-BF17-F67013DE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The live demo proves the full borrower repayment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6128E-2CF8-4BCB-9647-CB2F69E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1C289-4E51-41E7-BCEB-2A5A874E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57280-8B12-4AFA-B3A2-8EA0A71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Register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E6CB9-82FE-4F7E-A49C-E5395C4D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Create a tier proof PDA for the connected borrower wallet.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577AE-FD5C-4020-8E96-C3CF13B5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FCB47-D744-439F-8399-383D400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41666-76FF-43F2-A5C8-D01CEF16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145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Request + disburse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0E85A-1427-46DA-B535-7B0E0AAF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Lock collateral and release USDC from the pool vault.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8DF9E-06E5-4709-BC5F-8FD0ACEA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6EAB6-D4BB-4D24-91DF-94D78863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6A784-E413-46F2-B1DF-1CC5321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Fund repayment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76F2C-EC29-4862-9B9C-5D4635E5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Borrower deposits repayment into the stream vault.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EDC5E-C625-441E-AE76-099091D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65E06-F33E-406D-9242-65F67686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2CE6A-1358-4FE6-AD50-38942A3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Claim +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2A13D-3793-48E1-B182-E51B4B4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Pool authority claims accrued repayment; borrower closes after full accrual.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B50DC-030D-46F7-B9C8-F5E9550E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2E8BC-77D6-43F7-AFCB-A607F250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64705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C4F89-9476-418C-A119-D7F9EEC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96738-B980-4B2E-9703-25C66CC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3E80-9E13-4FE4-BDB0-662DA304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Credence is ready as a devnet production demo, with clear paths to mainnet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DFA21-BD58-4133-9B94-CBEBA60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3FFE0-D92A-4795-A819-A607F6C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wSOL collateral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BA17B-9D1D-425E-BDA1-078E770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Move borrower collateral from devnet USDC escrow to SOL/wSOL with USD price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637E5-FCFA-4C48-9D45-0EC58C1D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EA2FD-F640-494E-A307-343735F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Keeper automation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10709-7A55-4A65-8092-697344B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Deploy an agent to claim repayments, close streams, and surface liquidation warnings.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96A8C-C533-46DA-9245-3A2A7378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20ACF-77B8-4B4E-9740-CD31FA6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Verifier hardening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FE677-ABA0-4ADE-AA55-9993F14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Move from production-style verification gates to a fully deployed proof verifier.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6DE61-5EF2-457A-A2DC-FB4C2323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8F2DB-3A03-4954-A4D2-0F8A6CF0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Mainnet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20CFA-0921-439A-954F-202BE31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Audit, rate-limit, and configure production pool policies before real capital.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73BD6-8C7E-4DB2-8739-3A336F30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The devnet system proves the full control plane; the next economic upgrade is SOL-backed collateral.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4A047-E3FE-4093-9C23-8FC0D56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8FC18-CEEB-45F9-886E-6DF0664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31990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1C499-E8C8-4D61-9221-0C12A9F9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E316C-6A85-42FD-AC0C-F3EFFA2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SUBMISSION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D2A64-A463-4402-B8EF-7633CC0D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Credence turns the Tether Frontier theme into a working credit protocol.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72308-18BE-4963-AD6A-DA130DF3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20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22E38-FCBB-44E7-906E-7677239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QVAC by Tether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7D703-434F-45EC-9ECF-3EDC5A0E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Private credit and yield agents run local inference instead of sending raw wallet history to a cloud scorer.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8FFFB-8C3E-440E-A65F-848A679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20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935B3-7B83-462B-9A0E-B21840B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Solana devnet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F7E50-BDBB-4034-96F9-ACD2C51E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Proof registry, loan state, collateral escrow, repayment streams, pool vaults, and Kamino routing are live on-chain.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79C91-0BBD-4B27-ABAA-DC1FCC8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20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6382A-A2DF-409A-85E6-02DA4115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Privy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F37C8-63B1-4C87-9177-5DD749CD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514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Delegated repayment can be automated while signatures remain constrained to the allowed Solana program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840D-6D94-4B0D-807A-56C2DD5C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3241"/>
          </a:solidFill>
          <a:ln xmlns:a="http://schemas.openxmlformats.org/drawingml/2006/main" w="9525">
            <a:solidFill>
              <a:srgbClr val="DFE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8167D-72E2-4A5B-9C61-9B2BCA25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67300"/>
            <a:ext cx="7334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Ask: evaluate Credence as a privacy-preserving credit primitive for USDT/USDC liquidity and QVAC-powered underwriting.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753B3-8B48-4A7A-B3D1-5766A42D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Credence | private AI credit on Solana devnet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EB860-4626-4F3B-8962-C89C394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F6F7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6F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6178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2026-05-11T13:40:38.1210000Z</dcterms:created>
  <dcterms:modified xsi:type="dcterms:W3CDTF">2026-05-11T13:40:38.1210000Z</dcterms:modified>
</coreProperties>
</file>