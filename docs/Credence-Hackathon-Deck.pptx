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300beca45f44f2" /><Relationship Type="http://schemas.openxmlformats.org/officeDocument/2006/relationships/extended-properties" Target="/docProps/app.xml" Id="Rb8cb300457204f83" /><Relationship Type="http://schemas.openxmlformats.org/officeDocument/2006/relationships/officeDocument" Target="/ppt/presentation.xml" Id="Rd567cad8f9fd44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2dc80c26584a04"/>
  </p:sldMasterIdLst>
  <p:notesMasterIdLst>
    <p:notesMasterId xmlns:r="http://schemas.openxmlformats.org/officeDocument/2006/relationships" r:id="R1c99b2f9f73e4efa"/>
  </p:notesMasterIdLst>
  <p:sldIdLst>
    <p:sldId xmlns:r="http://schemas.openxmlformats.org/officeDocument/2006/relationships" id="256" r:id="R4d342e83473f4a8e"/>
    <p:sldId xmlns:r="http://schemas.openxmlformats.org/officeDocument/2006/relationships" id="257" r:id="R860e1a6fba24461f"/>
    <p:sldId xmlns:r="http://schemas.openxmlformats.org/officeDocument/2006/relationships" id="258" r:id="R4c8fd4ce36374d13"/>
    <p:sldId xmlns:r="http://schemas.openxmlformats.org/officeDocument/2006/relationships" id="259" r:id="Rda4935c9df0c427e"/>
    <p:sldId xmlns:r="http://schemas.openxmlformats.org/officeDocument/2006/relationships" id="260" r:id="Ra6c6efe6e854402a"/>
    <p:sldId xmlns:r="http://schemas.openxmlformats.org/officeDocument/2006/relationships" id="261" r:id="R47c4ec03bae449a2"/>
    <p:sldId xmlns:r="http://schemas.openxmlformats.org/officeDocument/2006/relationships" id="262" r:id="R643a085ec09a412d"/>
    <p:sldId xmlns:r="http://schemas.openxmlformats.org/officeDocument/2006/relationships" id="263" r:id="Rd7bcaf24441044ed"/>
    <p:sldId xmlns:r="http://schemas.openxmlformats.org/officeDocument/2006/relationships" id="264" r:id="Re3590e8d0aff4bb7"/>
    <p:sldId xmlns:r="http://schemas.openxmlformats.org/officeDocument/2006/relationships" id="265" r:id="R43e2466fe49b4ac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2dc80c26584a04" /><Relationship Type="http://schemas.openxmlformats.org/officeDocument/2006/relationships/theme" Target="/ppt/theme/theme1.xml" Id="Rccfa0efd71d24ce9" /><Relationship Type="http://schemas.openxmlformats.org/officeDocument/2006/relationships/notesMaster" Target="/ppt/notesMasters/notesMaster1.xml" Id="R1c99b2f9f73e4efa" /><Relationship Type="http://schemas.openxmlformats.org/officeDocument/2006/relationships/presProps" Target="/ppt/presProps.xml" Id="R309a901b35964ee2" /><Relationship Type="http://schemas.openxmlformats.org/officeDocument/2006/relationships/viewProps" Target="/ppt/viewProps.xml" Id="Re795e3ab2bdf4557" /><Relationship Type="http://schemas.openxmlformats.org/officeDocument/2006/relationships/tableStyles" Target="/ppt/tableStyles.xml" Id="R2c391c0007ca4de1" /><Relationship Type="http://schemas.openxmlformats.org/officeDocument/2006/relationships/slide" Target="/ppt/slides/slide1.xml" Id="R4d342e83473f4a8e" /><Relationship Type="http://schemas.openxmlformats.org/officeDocument/2006/relationships/slide" Target="/ppt/slides/slide2.xml" Id="R860e1a6fba24461f" /><Relationship Type="http://schemas.openxmlformats.org/officeDocument/2006/relationships/slide" Target="/ppt/slides/slide3.xml" Id="R4c8fd4ce36374d13" /><Relationship Type="http://schemas.openxmlformats.org/officeDocument/2006/relationships/slide" Target="/ppt/slides/slide4.xml" Id="Rda4935c9df0c427e" /><Relationship Type="http://schemas.openxmlformats.org/officeDocument/2006/relationships/slide" Target="/ppt/slides/slide5.xml" Id="Ra6c6efe6e854402a" /><Relationship Type="http://schemas.openxmlformats.org/officeDocument/2006/relationships/slide" Target="/ppt/slides/slide6.xml" Id="R47c4ec03bae449a2" /><Relationship Type="http://schemas.openxmlformats.org/officeDocument/2006/relationships/slide" Target="/ppt/slides/slide7.xml" Id="R643a085ec09a412d" /><Relationship Type="http://schemas.openxmlformats.org/officeDocument/2006/relationships/slide" Target="/ppt/slides/slide8.xml" Id="Rd7bcaf24441044ed" /><Relationship Type="http://schemas.openxmlformats.org/officeDocument/2006/relationships/slide" Target="/ppt/slides/slide9.xml" Id="Re3590e8d0aff4bb7" /><Relationship Type="http://schemas.openxmlformats.org/officeDocument/2006/relationships/slide" Target="/ppt/slides/slide10.xml" Id="R43e2466fe49b4a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7c1de3fc1004b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839edb3b8e4056" /><Relationship Type="http://schemas.openxmlformats.org/officeDocument/2006/relationships/notesMaster" Target="/ppt/notesMasters/notesMaster1.xml" Id="R2b73fe8a325c48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6b26c32d794cae" /><Relationship Type="http://schemas.openxmlformats.org/officeDocument/2006/relationships/notesMaster" Target="/ppt/notesMasters/notesMaster1.xml" Id="Rf5ecf5e9b22c43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a0cd3776ea47e4" /><Relationship Type="http://schemas.openxmlformats.org/officeDocument/2006/relationships/notesMaster" Target="/ppt/notesMasters/notesMaster1.xml" Id="R80a935f80e8a47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ae7338dabf435d" /><Relationship Type="http://schemas.openxmlformats.org/officeDocument/2006/relationships/notesMaster" Target="/ppt/notesMasters/notesMaster1.xml" Id="Rc830b4eb7f2648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3646f4bdbd4d8c" /><Relationship Type="http://schemas.openxmlformats.org/officeDocument/2006/relationships/notesMaster" Target="/ppt/notesMasters/notesMaster1.xml" Id="R6fcba2bba7d148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872a829fe245d3" /><Relationship Type="http://schemas.openxmlformats.org/officeDocument/2006/relationships/notesMaster" Target="/ppt/notesMasters/notesMaster1.xml" Id="R0164045de9a74b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c3bbb251ec4ba3" /><Relationship Type="http://schemas.openxmlformats.org/officeDocument/2006/relationships/notesMaster" Target="/ppt/notesMasters/notesMaster1.xml" Id="R1f76191dd5634d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95f2f87f2242ce" /><Relationship Type="http://schemas.openxmlformats.org/officeDocument/2006/relationships/notesMaster" Target="/ppt/notesMasters/notesMaster1.xml" Id="R497b422e7da440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28b9f8974346ac" /><Relationship Type="http://schemas.openxmlformats.org/officeDocument/2006/relationships/notesMaster" Target="/ppt/notesMasters/notesMaster1.xml" Id="Rf4fccd60f9b641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9b86c9953c541e8" /><Relationship Type="http://schemas.openxmlformats.org/officeDocument/2006/relationships/notesMaster" Target="/ppt/notesMasters/notesMaster1.xml" Id="R68ab61dbfa0041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265df80a05465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dc799e76b144420" /><Relationship Type="http://schemas.openxmlformats.org/officeDocument/2006/relationships/slideLayout" Target="/ppt/slideLayouts/slideLayout2.xml" Id="Reca88f5836d04f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a88f5836d04f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30538c352e4d63" /><Relationship Type="http://schemas.openxmlformats.org/officeDocument/2006/relationships/notesSlide" Target="/ppt/notesSlides/notesSlide1.xml" Id="Rf0b711f6526943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45b7be102d40f3" /><Relationship Type="http://schemas.openxmlformats.org/officeDocument/2006/relationships/notesSlide" Target="/ppt/notesSlides/notesSlide2.xml" Id="R5e793160a4094f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25b6cbc76347ee" /><Relationship Type="http://schemas.openxmlformats.org/officeDocument/2006/relationships/notesSlide" Target="/ppt/notesSlides/notesSlide3.xml" Id="R800c4c18449146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a5cef557fc4e94" /><Relationship Type="http://schemas.openxmlformats.org/officeDocument/2006/relationships/notesSlide" Target="/ppt/notesSlides/notesSlide4.xml" Id="R5aeeb44067ab4d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912b9d70fc4cbd" /><Relationship Type="http://schemas.openxmlformats.org/officeDocument/2006/relationships/notesSlide" Target="/ppt/notesSlides/notesSlide5.xml" Id="R88647842e53d44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e4ec8d36864a1a" /><Relationship Type="http://schemas.openxmlformats.org/officeDocument/2006/relationships/notesSlide" Target="/ppt/notesSlides/notesSlide6.xml" Id="Rd847f23799ba4c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87570446534ffd" /><Relationship Type="http://schemas.openxmlformats.org/officeDocument/2006/relationships/notesSlide" Target="/ppt/notesSlides/notesSlide7.xml" Id="R704ef59118c445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8cfb7a139b4b29" /><Relationship Type="http://schemas.openxmlformats.org/officeDocument/2006/relationships/notesSlide" Target="/ppt/notesSlides/notesSlide8.xml" Id="R19feec7aa35e44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4ca80b050346b5" /><Relationship Type="http://schemas.openxmlformats.org/officeDocument/2006/relationships/notesSlide" Target="/ppt/notesSlides/notesSlide9.xml" Id="R2f5c56fd4e1144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dc794d2e5c43c0" /><Relationship Type="http://schemas.openxmlformats.org/officeDocument/2006/relationships/notesSlide" Target="/ppt/notesSlides/notesSlide10.xml" Id="R38651b3c31824a8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66F5B0-91C4-412B-A779-68162509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4CFE6-6810-479E-945D-F477D23C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CREDENCE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A59F8-16DF-427E-BAF4-A9BF834A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723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Private AI credit, settled on Solana.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69793-09B0-46B5-8B8F-32EEA0A5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5905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Borrowers prove creditworthiness without exposing wallet history. Lenders fund a transparent USDC pool. Repayments stream back under on-chain policy.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6022E-FE35-47B7-BA41-F0496054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1295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F5EF"/>
          </a:solidFill>
          <a:ln xmlns:a="http://schemas.openxmlformats.org/drawingml/2006/main" w="0">
            <a:solidFill>
              <a:srgbClr val="DDF5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8D59C-712B-40F2-BC5B-57339DC0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4337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QVAC local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B97C9-0019-4E89-9A64-B783E5FA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76700"/>
            <a:ext cx="1257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solidFill>
              <a:srgbClr val="DCEB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D2C5C8-DC9C-4263-BA5D-65D3F79A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143375"/>
            <a:ext cx="1009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4E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4E63"/>
                </a:solidFill>
                <a:latin typeface="Aptos"/>
                <a:ea typeface="Aptos"/>
                <a:cs typeface="Aptos"/>
              </a:rPr>
              <a:t>ZK tier proof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403207-A307-4C4F-B8E0-CC3183AF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076700"/>
            <a:ext cx="1390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F5EF"/>
          </a:solidFill>
          <a:ln xmlns:a="http://schemas.openxmlformats.org/drawingml/2006/main" w="0">
            <a:solidFill>
              <a:srgbClr val="DDF5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F1FEB3-45D3-469D-A20E-19DEFE3A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43375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Privy policy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883E9-B979-499F-9C63-65837823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76700"/>
            <a:ext cx="1200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0">
            <a:solidFill>
              <a:srgbClr val="FFF2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F33763-3361-462A-A9A2-C696C517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14337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A4D0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A4D00"/>
                </a:solidFill>
                <a:latin typeface="Aptos"/>
                <a:ea typeface="Aptos"/>
                <a:cs typeface="Aptos"/>
              </a:rPr>
              <a:t>Kamino yield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5AB238-CB02-49A5-AEDD-C385698B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895350"/>
            <a:ext cx="3619500" cy="4476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253241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F9AD77-6CE5-4EFD-A1AD-015DE1D0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257300"/>
            <a:ext cx="2619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Live devnet protocol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2778E0-6DBE-4780-A27A-11DAECB0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76400"/>
            <a:ext cx="28098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FE3E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FE3E0"/>
                </a:solidFill>
                <a:latin typeface="Aptos"/>
                <a:ea typeface="Aptos"/>
                <a:cs typeface="Aptos"/>
              </a:rPr>
              <a:t>The app is wired to real Solana devnet accounts for loans, collateral, streams, pool liquidity, and Kamino allocation.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9A55C7-4519-44EF-83C0-D565B14A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2415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CF6012-FF9B-4125-BB0C-5DFDB20C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146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F7D"/>
                </a:solidFill>
                <a:latin typeface="Aptos"/>
                <a:ea typeface="Aptos"/>
                <a:cs typeface="Aptos"/>
              </a:rPr>
              <a:t>Network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E62DD7-2E0E-4089-A807-C1BCD809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8135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Devnet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532498-407C-4B3C-9CF9-5111C657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00450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Solana settlement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B2AE59-3FC7-4AC6-96C0-6BA675D8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3860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322741-B507-47DD-B459-A04247A9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291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F7D"/>
                </a:solidFill>
                <a:latin typeface="Aptos"/>
                <a:ea typeface="Aptos"/>
                <a:cs typeface="Aptos"/>
              </a:rPr>
              <a:t>State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6B73C2-12F9-4804-ADDD-B3B34B28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958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On-chain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9D6877-CF13-4F64-94A0-D63E7062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14900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Proofs, loans, streams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4DC570-5ECA-47A7-BBCE-053ED001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Credence | private AI credit on Solana devnet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AB2DD5-4E1C-4C2A-8DC1-47203BFF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240564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93F399-E2D8-4FD5-A3D8-E00C3E39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077B3-828C-4B82-94DB-DD78B13F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3763E-6817-4B7D-A7ED-678B200D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DeFi credit forces borrowers to choose between capital inefficiency and privacy loss.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18626-3C36-4294-8B9C-7E846133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31242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C1946-BFA3-4416-B943-65185B6F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431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Overcollateralized lending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9CE40-807B-42B3-95D6-A3513DEF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43250"/>
            <a:ext cx="2362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Borrow $100 only after locking more than $100. Safe, but capital inefficient.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E12B6B-4D9B-4A1B-AE3B-5AE145B3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005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F5DE3C-064E-4F7C-B6F6-E498471D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0250"/>
            <a:ext cx="31242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D36A06-28CB-447E-8B79-9F0CEE6C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431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Undercollateralized lending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915A5-FBAF-4610-8EDC-734415CB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43250"/>
            <a:ext cx="2362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Usually depends on KYC, whitelists, or centralized underwriting.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85536E-BE14-47F5-9853-C89F6CE3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005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4221D3-F477-41A3-96CD-FF4C15C6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0250"/>
            <a:ext cx="31242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FC40D4-760A-4BF6-B0C7-620EA113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431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Cloud AI risk engines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AFB05D-F6B6-4384-BA2E-913104B7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43250"/>
            <a:ext cx="2362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Portfolio and wallet history leave the user’s machine.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D126C3-6631-465E-873D-5AD7FEA8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005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10A057-BC08-47B6-84CB-856D6530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Credence creates a third path: private, proof-gated credit with enforceable on-chain recovery.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DBDD9C-64D0-4FC2-AB29-59F5836E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Credence | private AI credit on Solana devnet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9270B0-C30F-4876-8E1B-899514E6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6114593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96EA1C-2236-41C2-B7D5-51714EAE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DEE1C-A963-497A-8897-0185AE7B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EFB15-6387-4070-82A9-B1B4D21B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Credence separates private scoring from public settlement.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5A7C69-0747-400B-B222-61E21475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362200" cy="24193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DDF5E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76B8D-2D34-4AD7-9A08-6BD531D8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Private device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A6361-A1DA-4B33-BA87-079C8B80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QVAC credit agent</a:t>
            </a:r>
          </a:p>
          <a:p xmlns:a="http://schemas.openxmlformats.org/drawingml/2006/main">
            <a:pPr algn="l">
              <a:defRPr sz="112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wallet signals stay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8555E-7CDC-410B-A4D5-4009E3E9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099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1199E-3A55-49B7-8012-EEBE412C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623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6A63C0-FBBF-4804-B06A-4C8028DB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90750"/>
            <a:ext cx="2362200" cy="24193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099392-74B8-4854-8612-03F0974B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574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Proof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7FABB-43AF-482A-BD31-12CBD0F9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527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ZK tier proof</a:t>
            </a:r>
          </a:p>
          <a:p xmlns:a="http://schemas.openxmlformats.org/drawingml/2006/main">
            <a:pPr algn="l">
              <a:defRPr sz="112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wallet + model commitments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B030E2-500A-4690-8EFC-BDABE01B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4099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4E5862-936E-4C04-BD80-57066B89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623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C562C2-4B57-4852-A95B-90795D12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2362200" cy="24193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EBFDEF-52FB-4E88-9535-F5EECA59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574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Solana program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323D45-5BC4-448A-9F30-E5F18D11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527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Credit proof PDA</a:t>
            </a:r>
          </a:p>
          <a:p xmlns:a="http://schemas.openxmlformats.org/drawingml/2006/main">
            <a:pPr algn="l">
              <a:defRPr sz="112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loan + collateral escrow</a:t>
            </a:r>
          </a:p>
          <a:p xmlns:a="http://schemas.openxmlformats.org/drawingml/2006/main">
            <a:pPr algn="l">
              <a:defRPr sz="112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repayment stream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7F2612-BB68-4483-89DE-D808831B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099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753383-5AEB-4EBE-963F-B7A358E4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623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2280BF-729B-4A4A-90E7-B2B2B63B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90750"/>
            <a:ext cx="2362200" cy="24193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DE3247-82D3-4B6A-8BE6-890E0E62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574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Lender pool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15EA04-29CD-4086-8DC0-40A8B13B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527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USDC vault</a:t>
            </a:r>
          </a:p>
          <a:p xmlns:a="http://schemas.openxmlformats.org/drawingml/2006/main">
            <a:pPr algn="l">
              <a:defRPr sz="112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Kamino allocation</a:t>
            </a:r>
          </a:p>
          <a:p xmlns:a="http://schemas.openxmlformats.org/drawingml/2006/main">
            <a:pPr algn="l">
              <a:defRPr sz="112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claimable repayments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44F3F7-4297-4021-8F6A-27AB05A2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The chain receives enforceable state, not raw borrower history. Lenders can inspect pool and repayment accounts without seeing private underwriting inputs.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8ED0D7-4C4F-40A0-8298-32EA51E0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Credence | private AI credit on Solana devnet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B15256-5068-4768-8693-9E74819C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3201798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6FEB45-F0F0-4CFB-8433-CD3E2D5B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ED3B0A-C69D-4C61-A021-85C4D250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QVAC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CBE4A-9EBB-4297-B1F2-28742630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QVAC is the load-bearing privacy layer, not a decorative AI feature.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DF8E5-F33B-4FC4-BB40-7A7BFA28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485775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DDF5E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43BF9-2CC9-4328-A36B-42FF715C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6220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Credit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0E78A-0612-4A7A-AE57-45586819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1465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Runs local inference over wallet and DeFi behavior. Outputs a tier, max loan, collateral requirement, and model commitment.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10AC32-837E-4559-9254-350A8E95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4340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User data stays local; the protocol only receives the proof result.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12A0C-B9FD-4339-B02D-A4B216C7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19300"/>
            <a:ext cx="485775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6F2AA0-AA6B-4A02-A531-C1C6F351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6220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Yield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077F00-0537-4392-B079-0268EDB4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1465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Evaluates pool utilization and whether idle USDC should stay liquid or move into the configured Kamino vault.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437D8E-878F-4F8C-8BBB-85939E6F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4340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Yield decisions can be automated while remaining bounded by policy.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3DE4B3-A11B-41CD-AE57-DCA1EE11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Credence | private AI credit on Solana devnet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36C1E2-B6E2-492C-9B0F-4055DAF5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7528088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86D026-BAE3-4586-8A86-83B88D69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F1E90-1D84-415C-8528-9A69E16F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BORROWER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15011-6091-48CD-9267-33C48FBF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A borrower can take credit without publishing the data used to score them.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55597E-7648-4C30-BAAD-9CD227F4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3D848-779A-47E2-B8D2-9B80557F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57E04-14D5-4247-9479-2FA72CBC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33375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Connect wallet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6DF38E-7C97-4CAF-A345-73B9F17F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809875"/>
            <a:ext cx="847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67BB2-C46B-4B3A-A125-EB4DC759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622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FE8E7"/>
          </a:solidFill>
          <a:ln xmlns:a="http://schemas.openxmlformats.org/drawingml/2006/main" w="0">
            <a:solidFill>
              <a:srgbClr val="DFE8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655BCD-E685-4256-8927-42DA5955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336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A87430-3ED7-42FD-9C2C-636ADF4D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68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389068-96CF-4D39-9239-F6B28C13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3375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Run QVAC score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1F4AEE-9C17-441D-B9C0-694CF5EA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809875"/>
            <a:ext cx="847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3C14AF-EF1D-45BE-A89B-FF63BE1E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622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FE8E7"/>
          </a:solidFill>
          <a:ln xmlns:a="http://schemas.openxmlformats.org/drawingml/2006/main" w="0">
            <a:solidFill>
              <a:srgbClr val="DFE8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EBD20-BCC2-4855-98EF-EB56A644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336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2FB6D0-0E7C-4AAB-BDC8-1425AC1A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8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21C1AD-CEBA-472E-8489-C1F14CE2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33375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Register ZK tier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59E296-96C3-417E-B003-02B549AC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809875"/>
            <a:ext cx="847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142339-F88D-4BCD-95F0-953FFCB3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7622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FE8E7"/>
          </a:solidFill>
          <a:ln xmlns:a="http://schemas.openxmlformats.org/drawingml/2006/main" w="0">
            <a:solidFill>
              <a:srgbClr val="DFE8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7F0863-C200-4FA4-A2E3-339FD131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336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E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AEF960-1793-45E5-B0BD-A7DC3DD5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8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7D0C76-E595-4855-9BD6-E5E7ECDD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3375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Request loan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928DBE-738D-416A-AC3B-C750F46F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809875"/>
            <a:ext cx="847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D428AA-1003-4653-A65A-705FCE8C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622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FE8E7"/>
          </a:solidFill>
          <a:ln xmlns:a="http://schemas.openxmlformats.org/drawingml/2006/main" w="0">
            <a:solidFill>
              <a:srgbClr val="DFE8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EDA09C-0399-481A-867D-F72D88AD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336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E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2E06A8-9FC6-4865-B9D4-8D10C5BB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8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60F171-2BD3-49BA-9072-19D69354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3375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Lock collateral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8ADA0F-8175-4926-8F3F-1B156E90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809875"/>
            <a:ext cx="847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DC995E-B0B9-4C7B-9ECA-B1767555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622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FE8E7"/>
          </a:solidFill>
          <a:ln xmlns:a="http://schemas.openxmlformats.org/drawingml/2006/main" w="0">
            <a:solidFill>
              <a:srgbClr val="DFE8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D67E1F-199B-451B-870A-992EB095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336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E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B54043-3DAD-4CB5-A624-4FC037F5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8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6854B2-9284-4CC9-9A1F-BCA1B971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3375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Fund stream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F92BCF-09B2-428B-83FB-B1CDACB1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99822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B25351-58AD-4F1F-B7FC-C09E20BC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096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Repayment is not a hidden promise: funds sit in a program-derived stream vault and become claimable by the pool over time.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89A5F2-ED74-43BE-B8AF-55949531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Credence | private AI credit on Solana devnet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D54C52-B76A-4A84-A3AB-E5497280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1357782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9D5829-AB0D-4A86-8E58-1F4BBEE2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26D4B8-1E73-4EFE-A747-ED874C2E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TRUST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826E0-9189-4711-B6E7-F17AD18A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The system can be trusted because the risky parts are bounded twice.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C42FB-897B-4843-89EC-C37B9D61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382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165A1B-3D17-4C1A-BF0F-E1F8668E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9072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Private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9D364-55D8-4D8F-B573-31020104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676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QVAC keeps wallet analysis local; ZK proof exposes only the tier outcome.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9327B6-9187-4A9A-BFBE-E2AB0594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10382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DF5E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30008-2570-43B6-99E0-4D5EFB81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6227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Wallet authority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8466BA-9E0D-4D83-B059-418A2499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71800"/>
            <a:ext cx="676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Privy policy can constrain delegated repayment signatures to the AXIOM program path.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ED8677-424C-4092-A560-D8AA5E27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10382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B1C6BF-5D89-46A0-BCBD-70D33259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3382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On-chain controls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83D835-4565-4B10-BC79-F491F880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43350"/>
            <a:ext cx="676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The Solana program validates borrower, recipient, amount, loan state, and stream vault.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DD40CC-367D-474B-863C-50C16541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24400"/>
            <a:ext cx="10382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E563C7-0712-4BE0-8BFD-29A25AAC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0537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Recovery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2F65F7-B9A4-4B4B-B150-A618F57A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14900"/>
            <a:ext cx="676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Collateral escrow supports warning, grace period, and liquidation if repayment fails.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63C948-C380-4A33-85F8-D65E6814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Credence | private AI credit on Solana devnet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4B317C-1C01-428D-9FD4-4E5AD815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25930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0A7B8F-9985-4E28-84C4-D72D4E54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0E1CFF-AF98-4D0F-8DFA-CA8C6945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DEVNET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C6EFE-EBC5-4E3D-9341-266906BE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The demo is wired to real Solana accounts, not a static mock.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29DC7-FC47-4F05-9C1F-35C9BD41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103632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07D36-1660-47BC-9156-5BC36E66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193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AXIOM program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F7F05F-9845-41BA-B025-13C56F82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193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2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4202B"/>
                </a:solidFill>
                <a:latin typeface="Aptos Mono"/>
                <a:ea typeface="Aptos Mono"/>
                <a:cs typeface="Aptos Mono"/>
              </a:rPr>
              <a:t>6Xrd8Ymz9vxecWjifKern6LAzXQ2XKcS4D1zsJ8ENLpK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DD6EB-7FB8-45D2-A097-56B2B8F1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103632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B6C2D3-F326-429D-B39E-2EFE67DA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194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Lending pool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7F6AB-0852-4E65-89D0-DF035274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194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2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4202B"/>
                </a:solidFill>
                <a:latin typeface="Aptos Mono"/>
                <a:ea typeface="Aptos Mono"/>
                <a:cs typeface="Aptos Mono"/>
              </a:rPr>
              <a:t>9vWqdDc68HmMijbbDviYmHYPo96Ru2FSL9CYbg22Guiu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5BEFC-A9A0-441F-B310-442E21CF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103632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9C1A72-41D8-46C8-BB6A-CC12E2DD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USDC vault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FF48F1-ED9A-4EE1-8A68-D95D49EE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6195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2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4202B"/>
                </a:solidFill>
                <a:latin typeface="Aptos Mono"/>
                <a:ea typeface="Aptos Mono"/>
                <a:cs typeface="Aptos Mono"/>
              </a:rPr>
              <a:t>AaywYs28UTX946bnaXya79GP9X6tj2ScVeb9Z1UHKQa6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0F0521-921A-40FF-B9AA-B39FD6D1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103632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CC1938-6684-491B-BF4C-275B8B6F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196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Kamino vault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95198F-77E5-4745-A112-1A1CEBBA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196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2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4202B"/>
                </a:solidFill>
                <a:latin typeface="Aptos Mono"/>
                <a:ea typeface="Aptos Mono"/>
                <a:cs typeface="Aptos Mono"/>
              </a:rPr>
              <a:t>7uib8xGAwkaPz4ZGCA6t8sSEid5Yp9ty13PHUweTypx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E40ED8-63B7-4A43-8510-E1192609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305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Shown live in the app: proof PDA, loan PDA, collateral escrow, repayment stream vault, pool liquidity, and Kamino allocation.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A3D8AC-AD36-4CF5-A036-13A0EA9D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Credence | private AI credit on Solana devnet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CDF65D-9327-4705-BD95-7F752198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044503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15750C-7E72-4933-AF36-4642896C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AFE4EE-EFA1-4794-8A0B-71ACC228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BUSINESS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2ABC4-4D9C-4596-99C5-A9E110CE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Lenders get two yield sources while borrowers get better capital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F3B82C-729C-4B27-9B53-7EBE4731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BD77F5-8410-47D4-9183-D7E9B43A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384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Borrower interest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9ECD9-84E1-41CF-89D6-76AE83D1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28950"/>
            <a:ext cx="2247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Loan APR accrues into repayment streams and is claimed by the pool over time.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C9EC4-6D50-413D-A4D8-A6F5AF99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DF5E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B2D7E-192B-4F95-9782-3B6D232F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4384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Idle yield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9B569A-B646-4F40-ACF7-C3F3CB17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028950"/>
            <a:ext cx="2247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QVAC yield agent can route unused USDC toward Kamino while preserving liquidity constraints.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432921-D156-48CB-8BC9-CCFF660E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E441CD-67E4-4445-9A80-F2F36005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384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Risk recovery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8A9FC8-10AD-495D-9159-5FD2AF5F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28950"/>
            <a:ext cx="2247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Collateral escrow gives lenders a defined recovery path if repayment breaks.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688853-112D-44B5-A8E9-3C87DCD6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43500"/>
            <a:ext cx="923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The protocol’s value is not higher leverage alone; it is private underwriting with enforceable repayment and recovery.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E4B9F4-4786-4AB3-8D2A-9E1EF222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Credence | private AI credit on Solana devnet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094EB-7C59-47EB-B67A-CDB896FE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5029607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BA6A6A-B7F4-43D8-9A16-EA16EA1C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111813-94A0-41F5-826F-D934177C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DEMO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619CB-87EF-4B7E-B6EB-32671DAF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The live demo proves the full borrower repayment loop.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B3E83E-C834-43AA-A62B-21C90281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4762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D5884-1D4C-485A-959B-26CF0072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0F766E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142A3-8B73-4B94-A37E-FA891025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145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Register proof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144270-A264-4102-A469-1C50B9BE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9555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Create a tier proof PDA for the connected borrower wallet.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1F95FF-E637-4F82-80DB-38E0E6C6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4762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322805-14B3-4CAC-9C05-0AF3586E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145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0F766E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6BA53E-CA74-4D16-AD3C-51C190E3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145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Request + disburse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6F2837-83D3-4512-A3A6-875FCB2A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9555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Lock collateral and release USDC from the pool vault.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2FE2CC-A6CA-4B52-9C51-77396793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762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DF5E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FC45DF-D349-4E93-B4FF-76A566B2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0F766E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5FFB47-83DF-4D53-B675-1FD13689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290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Fund repayment stream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6CD924-C9F7-4AAA-813F-B2A02ED0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1005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Borrower deposits repayment into the stream vault.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046A63-9975-4A67-B570-63503844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4762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728588-C0C7-4CEF-A312-C843819E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290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0F766E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1ED3FA-4995-4032-836E-77A50409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290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Claim + close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9CFD7C-EBC9-427E-90D4-FA2FD9D9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1005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Pool authority claims accrued repayment; borrower closes after full accrual.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4B58EE-E4C3-4641-8264-60D25719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Credence | private AI credit on Solana devnet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4D88BA-AAE5-4E70-A064-FED9B131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3125792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1891CE-86C9-4508-BAF2-685A0E7D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4AAE9D-E654-40D7-809D-764F69F4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1D4F1A-7D7F-40FC-8369-771AFDE7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Credence is ready as a devnet production demo, with clear paths to mainnet readiness.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E5C5B-545E-4E3A-9CAC-16D6B6D4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90700"/>
            <a:ext cx="10287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DF5E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A18CFB-5CBD-4E2C-ABA0-72C72FBB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621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Keeper automation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0268C5-D2AC-4CF7-9B43-08324A6F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62150"/>
            <a:ext cx="628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Deploy a cron/agent to claim repayments and close finished streams.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9C4E1-1025-4BAD-A228-00A293FE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10287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849B05-7D8D-449F-8109-4438A1C6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384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Indexer 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348CB-A5AA-4B11-B0C1-85CE090B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38450"/>
            <a:ext cx="628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Store borrower cohorts, repayment history, rewards, and analytics off-chain.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1CBD3D-CD49-4FE9-8DD7-9E7F04C8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10287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865C94-38B8-45C5-AB31-BA167AF2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Verifier hardening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3E904B-5A6A-4E37-A74C-20AAD66B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14750"/>
            <a:ext cx="628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Move from production-style verification gates to a fully deployed proof verifier.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9E5C11-5B7D-4F2E-AA45-900D7848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9600"/>
            <a:ext cx="10287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7C688C-BEE0-47A5-A738-380521DC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910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Mainnet controls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9C86D8-14B1-499C-BA4F-77330C93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91050"/>
            <a:ext cx="628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Audit, rate-limit, and configure production pool policies before real capital.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95999F-2CCD-43EB-B136-BA79EE8F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43550"/>
            <a:ext cx="7905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Submission story: private AI underwriting + transparent Solana settlement + bounded repayment automation.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BEC96E-8588-41C3-89A2-C34CB203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Credence | private AI credit on Solana devnet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476FD6-DD85-4AD4-A2C2-867C75B3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507222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2026-05-11T06:24:05.1270000Z</dcterms:created>
  <dcterms:modified xsi:type="dcterms:W3CDTF">2026-05-11T06:24:05.1270000Z</dcterms:modified>
</coreProperties>
</file>